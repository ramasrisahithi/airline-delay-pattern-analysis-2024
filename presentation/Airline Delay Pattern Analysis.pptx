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AEADD-FBA6-BD26-247B-AD9AF3642A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EE3D84-58BE-9DB3-D1E0-F79C2FEDB9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E75A7E-E66E-6F76-6ADF-05DEC13501CA}"/>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5" name="Footer Placeholder 4">
            <a:extLst>
              <a:ext uri="{FF2B5EF4-FFF2-40B4-BE49-F238E27FC236}">
                <a16:creationId xmlns:a16="http://schemas.microsoft.com/office/drawing/2014/main" id="{57534F0B-3786-A299-4EDE-7B72003350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255AC6-2FEE-E3B7-8853-1CBC3E89026D}"/>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3987984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CBA6A-684F-9195-B404-667399A022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BB5A72-B2A3-A027-742E-AC0F58F664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53869B-A814-1F6C-CB9B-1AAF2BAC46C8}"/>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5" name="Footer Placeholder 4">
            <a:extLst>
              <a:ext uri="{FF2B5EF4-FFF2-40B4-BE49-F238E27FC236}">
                <a16:creationId xmlns:a16="http://schemas.microsoft.com/office/drawing/2014/main" id="{0B532A86-B4B2-1EA7-E76A-2D5B630F3E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644D90-1BB1-3825-6C9D-FE97E3E9C3AD}"/>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270837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6718B-43CE-B7D8-B796-6BC3E90D64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743FEA4-8B62-B3DF-152C-F29964841E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E2128F-E398-F40D-D1C3-E8C89768D399}"/>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5" name="Footer Placeholder 4">
            <a:extLst>
              <a:ext uri="{FF2B5EF4-FFF2-40B4-BE49-F238E27FC236}">
                <a16:creationId xmlns:a16="http://schemas.microsoft.com/office/drawing/2014/main" id="{04FABE5C-7994-D9F7-B645-0A7D4F9FAA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4EF660-E44B-7BC0-2D6E-97519586D6E0}"/>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2878886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B53C5-841E-8EEC-16AD-92F05A01E5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6179E6-5786-7020-9527-56023FBFDF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B757D09-B08A-B5E5-8ECB-01B7ECE85A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24CA86-FBCE-5BF6-7134-36C9D2520DB5}"/>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6" name="Footer Placeholder 5">
            <a:extLst>
              <a:ext uri="{FF2B5EF4-FFF2-40B4-BE49-F238E27FC236}">
                <a16:creationId xmlns:a16="http://schemas.microsoft.com/office/drawing/2014/main" id="{CF8023C4-AF16-681A-13EA-9D9F09867B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D59272-2FFA-DC30-F250-9FC49D683132}"/>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3349712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258C2-9670-71C5-6675-653D6A38BB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63AB27-10A6-6623-A4C8-CEB3B2CDD4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728D0B-7D20-FD44-F928-4C7CEB3095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A65260-3BE1-491F-131E-9FB32289C4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52D269-8233-3CA6-49FE-BD0A77BD3A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D99949-DFD8-6BE0-303C-65FA6583BABB}"/>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8" name="Footer Placeholder 7">
            <a:extLst>
              <a:ext uri="{FF2B5EF4-FFF2-40B4-BE49-F238E27FC236}">
                <a16:creationId xmlns:a16="http://schemas.microsoft.com/office/drawing/2014/main" id="{4B549D23-D577-3629-A35A-C60A66C52A8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F0E3304-83D0-0A8F-FC41-BBA3C943812C}"/>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3836150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06627-05BB-658A-BDFA-F709F6B1D43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59695F-3C0A-62F1-EB27-8FCC7C6854EA}"/>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4" name="Footer Placeholder 3">
            <a:extLst>
              <a:ext uri="{FF2B5EF4-FFF2-40B4-BE49-F238E27FC236}">
                <a16:creationId xmlns:a16="http://schemas.microsoft.com/office/drawing/2014/main" id="{8BA28538-C101-FCD0-FCA7-A3D985A95C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093415-78C3-4310-4FDC-61FC899752A5}"/>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3793057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124BAC-0C55-1500-F604-A2AADB7B3696}"/>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3" name="Footer Placeholder 2">
            <a:extLst>
              <a:ext uri="{FF2B5EF4-FFF2-40B4-BE49-F238E27FC236}">
                <a16:creationId xmlns:a16="http://schemas.microsoft.com/office/drawing/2014/main" id="{68F2D2F4-EA5E-30FA-5C52-60CB14841F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3B6980-BBD0-5E63-2D21-D944C6B54F0C}"/>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3528894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49A68-5DD5-4D93-4935-2A72399BB9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CC7CE9-5962-1250-8DC9-9CBC2D02AB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446BA1-41C1-263F-5126-A8D8F64DC0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0BA01-F764-9F81-53F5-14B3C3404E5F}"/>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6" name="Footer Placeholder 5">
            <a:extLst>
              <a:ext uri="{FF2B5EF4-FFF2-40B4-BE49-F238E27FC236}">
                <a16:creationId xmlns:a16="http://schemas.microsoft.com/office/drawing/2014/main" id="{FD1B7A6A-A57D-EE47-5A45-2BB73C8658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2163EF-A37B-9DD5-A50A-1C4794181689}"/>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194390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B59A0-199A-F6D8-B83D-094C3DAD2A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A7DE52-C10D-1749-AD25-C02D09CEC8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260815-B358-5AB3-2473-7C36767614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217831-71B2-DD34-F69D-F57E235E8DF5}"/>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6" name="Footer Placeholder 5">
            <a:extLst>
              <a:ext uri="{FF2B5EF4-FFF2-40B4-BE49-F238E27FC236}">
                <a16:creationId xmlns:a16="http://schemas.microsoft.com/office/drawing/2014/main" id="{B759000A-CD93-0CDB-32BC-0C1614072C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059E38-CA3C-B8F7-E2F1-A6BAD9708644}"/>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73051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3F159-B428-075F-1C01-226982B7E4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3E5878-EFB1-7A05-4BDE-53903E0F64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27A842-2461-0159-10C3-F499822C332B}"/>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5" name="Footer Placeholder 4">
            <a:extLst>
              <a:ext uri="{FF2B5EF4-FFF2-40B4-BE49-F238E27FC236}">
                <a16:creationId xmlns:a16="http://schemas.microsoft.com/office/drawing/2014/main" id="{ACF71F39-BA2E-EEC4-E7B0-B4EE735EC6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FB9A9A-0134-A534-399F-A4ADD364FC95}"/>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1765810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2DAC9E-3181-B9CF-D319-4328EB7AAF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F7C421-DA98-2551-59F4-A39657DBFC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E0F235-4A8D-A148-EB39-1FFAF8EE0068}"/>
              </a:ext>
            </a:extLst>
          </p:cNvPr>
          <p:cNvSpPr>
            <a:spLocks noGrp="1"/>
          </p:cNvSpPr>
          <p:nvPr>
            <p:ph type="dt" sz="half" idx="10"/>
          </p:nvPr>
        </p:nvSpPr>
        <p:spPr/>
        <p:txBody>
          <a:bodyPr/>
          <a:lstStyle/>
          <a:p>
            <a:fld id="{1F1AD62E-3E1E-4141-B4B3-19C1724F12F8}" type="datetimeFigureOut">
              <a:rPr lang="en-IN" smtClean="0"/>
              <a:t>27-06-2026</a:t>
            </a:fld>
            <a:endParaRPr lang="en-IN"/>
          </a:p>
        </p:txBody>
      </p:sp>
      <p:sp>
        <p:nvSpPr>
          <p:cNvPr id="5" name="Footer Placeholder 4">
            <a:extLst>
              <a:ext uri="{FF2B5EF4-FFF2-40B4-BE49-F238E27FC236}">
                <a16:creationId xmlns:a16="http://schemas.microsoft.com/office/drawing/2014/main" id="{10FDF6EF-B729-8F93-670C-57143FD7F7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850BDF-6AA8-F20F-6998-E9C322551BCA}"/>
              </a:ext>
            </a:extLst>
          </p:cNvPr>
          <p:cNvSpPr>
            <a:spLocks noGrp="1"/>
          </p:cNvSpPr>
          <p:nvPr>
            <p:ph type="sldNum" sz="quarter" idx="12"/>
          </p:nvPr>
        </p:nvSpPr>
        <p:spPr/>
        <p:txBody>
          <a:bodyPr/>
          <a:lstStyle/>
          <a:p>
            <a:fld id="{5E0AE026-D88A-4AA4-A9F6-F9E494E9C0E2}" type="slidenum">
              <a:rPr lang="en-IN" smtClean="0"/>
              <a:t>‹#›</a:t>
            </a:fld>
            <a:endParaRPr lang="en-IN"/>
          </a:p>
        </p:txBody>
      </p:sp>
    </p:spTree>
    <p:extLst>
      <p:ext uri="{BB962C8B-B14F-4D97-AF65-F5344CB8AC3E}">
        <p14:creationId xmlns:p14="http://schemas.microsoft.com/office/powerpoint/2010/main" val="2746614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3D44F3-696E-EF9A-D42A-D49E497DA3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68612B-1AFB-BF44-A4BB-29BEF0BF4D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E199E7-FD59-7A95-2E1C-0281BCA38E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1AD62E-3E1E-4141-B4B3-19C1724F12F8}" type="datetimeFigureOut">
              <a:rPr lang="en-IN" smtClean="0"/>
              <a:t>27-06-2026</a:t>
            </a:fld>
            <a:endParaRPr lang="en-IN"/>
          </a:p>
        </p:txBody>
      </p:sp>
      <p:sp>
        <p:nvSpPr>
          <p:cNvPr id="5" name="Footer Placeholder 4">
            <a:extLst>
              <a:ext uri="{FF2B5EF4-FFF2-40B4-BE49-F238E27FC236}">
                <a16:creationId xmlns:a16="http://schemas.microsoft.com/office/drawing/2014/main" id="{7FCBCE88-49FD-1E68-A323-397AD7CCE2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AA6F483-D54E-AC8D-6046-7C2A97C809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0AE026-D88A-4AA4-A9F6-F9E494E9C0E2}" type="slidenum">
              <a:rPr lang="en-IN" smtClean="0"/>
              <a:t>‹#›</a:t>
            </a:fld>
            <a:endParaRPr lang="en-IN"/>
          </a:p>
        </p:txBody>
      </p:sp>
    </p:spTree>
    <p:extLst>
      <p:ext uri="{BB962C8B-B14F-4D97-AF65-F5344CB8AC3E}">
        <p14:creationId xmlns:p14="http://schemas.microsoft.com/office/powerpoint/2010/main" val="2243282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kaggle.com/datasets/hrishitpatil/flight-data-2024"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50BFF84-005F-59A3-BCA9-BD16C9D507A9}"/>
              </a:ext>
            </a:extLst>
          </p:cNvPr>
          <p:cNvSpPr>
            <a:spLocks noGrp="1"/>
          </p:cNvSpPr>
          <p:nvPr>
            <p:ph type="subTitle" idx="1"/>
          </p:nvPr>
        </p:nvSpPr>
        <p:spPr>
          <a:xfrm>
            <a:off x="1524000" y="648929"/>
            <a:ext cx="9144000" cy="5083277"/>
          </a:xfrm>
        </p:spPr>
        <p:style>
          <a:lnRef idx="2">
            <a:schemeClr val="accent6"/>
          </a:lnRef>
          <a:fillRef idx="1">
            <a:schemeClr val="lt1"/>
          </a:fillRef>
          <a:effectRef idx="0">
            <a:schemeClr val="accent6"/>
          </a:effectRef>
          <a:fontRef idx="minor">
            <a:schemeClr val="dk1"/>
          </a:fontRef>
        </p:style>
        <p:txBody>
          <a:bodyPr/>
          <a:lstStyle/>
          <a:p>
            <a:endParaRPr lang="en-IN" sz="3200" b="1" dirty="0"/>
          </a:p>
          <a:p>
            <a:r>
              <a:rPr lang="en-IN" sz="3200" b="1" dirty="0"/>
              <a:t>Airline Delay Pattern Analysis — 2024</a:t>
            </a:r>
          </a:p>
          <a:p>
            <a:endParaRPr lang="en-IN" dirty="0"/>
          </a:p>
          <a:p>
            <a:r>
              <a:rPr lang="en-IN" dirty="0"/>
              <a:t>Business Recommendations &amp; Findings Summary</a:t>
            </a:r>
          </a:p>
          <a:p>
            <a:endParaRPr lang="en-IN" dirty="0"/>
          </a:p>
          <a:p>
            <a:r>
              <a:rPr lang="en-IN" dirty="0"/>
              <a:t>YARRAMSETTI RAMA SRI SAHITHI</a:t>
            </a:r>
          </a:p>
          <a:p>
            <a:endParaRPr lang="en-IN" dirty="0"/>
          </a:p>
          <a:p>
            <a:r>
              <a:rPr lang="en-IN" dirty="0"/>
              <a:t>Dataset: 7.06M U.S. Domestic Flights, 2024</a:t>
            </a:r>
          </a:p>
        </p:txBody>
      </p:sp>
    </p:spTree>
    <p:extLst>
      <p:ext uri="{BB962C8B-B14F-4D97-AF65-F5344CB8AC3E}">
        <p14:creationId xmlns:p14="http://schemas.microsoft.com/office/powerpoint/2010/main" val="263674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647697-DD0A-E4FB-9318-EFA73E884515}"/>
              </a:ext>
            </a:extLst>
          </p:cNvPr>
          <p:cNvSpPr/>
          <p:nvPr/>
        </p:nvSpPr>
        <p:spPr>
          <a:xfrm>
            <a:off x="1160206" y="757084"/>
            <a:ext cx="9842091" cy="53684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Subtitle 2">
            <a:extLst>
              <a:ext uri="{FF2B5EF4-FFF2-40B4-BE49-F238E27FC236}">
                <a16:creationId xmlns:a16="http://schemas.microsoft.com/office/drawing/2014/main" id="{7A34AB34-440B-2F59-CD3E-2B7C42E302C1}"/>
              </a:ext>
            </a:extLst>
          </p:cNvPr>
          <p:cNvSpPr>
            <a:spLocks noGrp="1"/>
          </p:cNvSpPr>
          <p:nvPr>
            <p:ph type="subTitle" idx="1"/>
          </p:nvPr>
        </p:nvSpPr>
        <p:spPr>
          <a:xfrm>
            <a:off x="1524000" y="865239"/>
            <a:ext cx="9144000" cy="4758813"/>
          </a:xfrm>
        </p:spPr>
        <p:txBody>
          <a:bodyPr>
            <a:normAutofit fontScale="92500" lnSpcReduction="20000"/>
          </a:bodyPr>
          <a:lstStyle/>
          <a:p>
            <a:r>
              <a:rPr lang="en-IN" b="1" dirty="0"/>
              <a:t>Project Overview</a:t>
            </a:r>
          </a:p>
          <a:p>
            <a:endParaRPr lang="en-IN" dirty="0"/>
          </a:p>
          <a:p>
            <a:pPr algn="l"/>
            <a:r>
              <a:rPr lang="en-IN" u="sng" dirty="0"/>
              <a:t>Objective:</a:t>
            </a:r>
          </a:p>
          <a:p>
            <a:pPr marL="342900" indent="-342900" algn="l">
              <a:buFont typeface="Arial" panose="020B0604020202020204" pitchFamily="34" charset="0"/>
              <a:buChar char="•"/>
            </a:pPr>
            <a:r>
              <a:rPr lang="en-IN" dirty="0" err="1"/>
              <a:t>Analyze</a:t>
            </a:r>
            <a:r>
              <a:rPr lang="en-IN" dirty="0"/>
              <a:t> 2024 U.S. domestic flight delay patterns to identify root causes and recommend actionable operational improvements.</a:t>
            </a:r>
          </a:p>
          <a:p>
            <a:pPr algn="l"/>
            <a:endParaRPr lang="en-IN" dirty="0"/>
          </a:p>
          <a:p>
            <a:pPr algn="l"/>
            <a:r>
              <a:rPr lang="en-IN" u="sng" dirty="0"/>
              <a:t>Tools Used:</a:t>
            </a:r>
          </a:p>
          <a:p>
            <a:pPr marL="342900" indent="-342900" algn="l">
              <a:buFont typeface="Arial" panose="020B0604020202020204" pitchFamily="34" charset="0"/>
              <a:buChar char="•"/>
            </a:pPr>
            <a:r>
              <a:rPr lang="en-IN" dirty="0"/>
              <a:t>Python (Pandas, NumPy) | MySQL Workbench | Power BI + DAX</a:t>
            </a:r>
          </a:p>
          <a:p>
            <a:pPr algn="l"/>
            <a:endParaRPr lang="en-IN" dirty="0"/>
          </a:p>
          <a:p>
            <a:pPr algn="l"/>
            <a:r>
              <a:rPr lang="en-IN" u="sng" dirty="0"/>
              <a:t>Scope:</a:t>
            </a:r>
          </a:p>
          <a:p>
            <a:pPr marL="342900" indent="-342900" algn="l">
              <a:buFont typeface="Arial" panose="020B0604020202020204" pitchFamily="34" charset="0"/>
              <a:buChar char="•"/>
            </a:pPr>
            <a:r>
              <a:rPr lang="en-IN" dirty="0"/>
              <a:t>7,061,582 flights </a:t>
            </a:r>
            <a:r>
              <a:rPr lang="en-IN" dirty="0" err="1"/>
              <a:t>analyzed</a:t>
            </a:r>
            <a:r>
              <a:rPr lang="en-IN" dirty="0"/>
              <a:t> | 42 columns (35 original + 7 engineered)</a:t>
            </a:r>
          </a:p>
          <a:p>
            <a:pPr marL="342900" indent="-342900" algn="l">
              <a:buFont typeface="Arial" panose="020B0604020202020204" pitchFamily="34" charset="0"/>
              <a:buChar char="•"/>
            </a:pPr>
            <a:r>
              <a:rPr lang="en-IN" dirty="0"/>
              <a:t>Source: Kaggle Flight Delay Dataset 2024 (CC0 License)</a:t>
            </a:r>
          </a:p>
          <a:p>
            <a:pPr marL="342900" indent="-342900" algn="l">
              <a:buFont typeface="Arial" panose="020B0604020202020204" pitchFamily="34" charset="0"/>
              <a:buChar char="•"/>
            </a:pPr>
            <a:r>
              <a:rPr lang="en-IN" dirty="0" err="1"/>
              <a:t>Link:</a:t>
            </a:r>
            <a:r>
              <a:rPr lang="en-IN" dirty="0" err="1">
                <a:hlinkClick r:id="rId2"/>
              </a:rPr>
              <a:t>kaggle.com</a:t>
            </a:r>
            <a:r>
              <a:rPr lang="en-IN" dirty="0">
                <a:hlinkClick r:id="rId2"/>
              </a:rPr>
              <a:t>/datasets/</a:t>
            </a:r>
            <a:r>
              <a:rPr lang="en-IN" dirty="0" err="1">
                <a:hlinkClick r:id="rId2"/>
              </a:rPr>
              <a:t>hrishitpatil</a:t>
            </a:r>
            <a:r>
              <a:rPr lang="en-IN" dirty="0">
                <a:hlinkClick r:id="rId2"/>
              </a:rPr>
              <a:t>/flight-data-2024</a:t>
            </a:r>
            <a:endParaRPr lang="en-IN" dirty="0"/>
          </a:p>
        </p:txBody>
      </p:sp>
    </p:spTree>
    <p:extLst>
      <p:ext uri="{BB962C8B-B14F-4D97-AF65-F5344CB8AC3E}">
        <p14:creationId xmlns:p14="http://schemas.microsoft.com/office/powerpoint/2010/main" val="1824723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376D51-63A6-C72E-A940-499EF2CC1820}"/>
              </a:ext>
            </a:extLst>
          </p:cNvPr>
          <p:cNvSpPr/>
          <p:nvPr/>
        </p:nvSpPr>
        <p:spPr>
          <a:xfrm>
            <a:off x="1061884" y="717755"/>
            <a:ext cx="10215716" cy="54470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Subtitle 2">
            <a:extLst>
              <a:ext uri="{FF2B5EF4-FFF2-40B4-BE49-F238E27FC236}">
                <a16:creationId xmlns:a16="http://schemas.microsoft.com/office/drawing/2014/main" id="{7F1B4166-E204-A855-9B6E-207F3A93DD5F}"/>
              </a:ext>
            </a:extLst>
          </p:cNvPr>
          <p:cNvSpPr>
            <a:spLocks noGrp="1"/>
          </p:cNvSpPr>
          <p:nvPr>
            <p:ph type="subTitle" idx="1"/>
          </p:nvPr>
        </p:nvSpPr>
        <p:spPr>
          <a:xfrm>
            <a:off x="1524000" y="825909"/>
            <a:ext cx="9144000" cy="4866967"/>
          </a:xfrm>
        </p:spPr>
        <p:txBody>
          <a:bodyPr/>
          <a:lstStyle/>
          <a:p>
            <a:r>
              <a:rPr lang="en-US" b="1" dirty="0"/>
              <a:t>Key Performance Indicators</a:t>
            </a:r>
          </a:p>
          <a:p>
            <a:pPr marL="285750" indent="-285750" algn="l">
              <a:buFont typeface="Arial" panose="020B0604020202020204" pitchFamily="34" charset="0"/>
              <a:buChar char="•"/>
            </a:pPr>
            <a:endParaRPr lang="en-US" sz="1600" dirty="0"/>
          </a:p>
          <a:p>
            <a:pPr marL="285750" indent="-285750" algn="l">
              <a:buFont typeface="Arial" panose="020B0604020202020204" pitchFamily="34" charset="0"/>
              <a:buChar char="•"/>
            </a:pPr>
            <a:r>
              <a:rPr lang="en-US" sz="1600" dirty="0"/>
              <a:t>Total Flights: 7.06M</a:t>
            </a:r>
          </a:p>
          <a:p>
            <a:pPr marL="342900" indent="-342900" algn="l">
              <a:buFont typeface="Arial" panose="020B0604020202020204" pitchFamily="34" charset="0"/>
              <a:buChar char="•"/>
            </a:pPr>
            <a:r>
              <a:rPr lang="en-US" sz="1600" dirty="0"/>
              <a:t>On-Time Rate: 78.78%</a:t>
            </a:r>
          </a:p>
          <a:p>
            <a:pPr marL="342900" indent="-342900" algn="l">
              <a:buFont typeface="Arial" panose="020B0604020202020204" pitchFamily="34" charset="0"/>
              <a:buChar char="•"/>
            </a:pPr>
            <a:r>
              <a:rPr lang="en-US" sz="1600" dirty="0"/>
              <a:t>Avg Arrival Delay: 7.00 minutes</a:t>
            </a:r>
          </a:p>
          <a:p>
            <a:pPr marL="342900" indent="-342900" algn="l">
              <a:buFont typeface="Arial" panose="020B0604020202020204" pitchFamily="34" charset="0"/>
              <a:buChar char="•"/>
            </a:pPr>
            <a:r>
              <a:rPr lang="en-US" sz="1600" dirty="0"/>
              <a:t>Cancellation Rate: 1.36%</a:t>
            </a:r>
          </a:p>
          <a:p>
            <a:pPr marL="342900" indent="-342900" algn="l">
              <a:buFont typeface="Arial" panose="020B0604020202020204" pitchFamily="34" charset="0"/>
              <a:buChar char="•"/>
            </a:pPr>
            <a:r>
              <a:rPr lang="en-US" sz="1600" dirty="0"/>
              <a:t>Total Delay Minutes: 103.6M</a:t>
            </a:r>
          </a:p>
          <a:p>
            <a:endParaRPr lang="en-US" dirty="0"/>
          </a:p>
        </p:txBody>
      </p:sp>
      <p:pic>
        <p:nvPicPr>
          <p:cNvPr id="7" name="Picture 6">
            <a:extLst>
              <a:ext uri="{FF2B5EF4-FFF2-40B4-BE49-F238E27FC236}">
                <a16:creationId xmlns:a16="http://schemas.microsoft.com/office/drawing/2014/main" id="{5354359C-922E-CEBE-61BA-35BEAB064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5172" y="3704303"/>
            <a:ext cx="8145012" cy="1590769"/>
          </a:xfrm>
          <a:prstGeom prst="rect">
            <a:avLst/>
          </a:prstGeom>
        </p:spPr>
      </p:pic>
    </p:spTree>
    <p:extLst>
      <p:ext uri="{BB962C8B-B14F-4D97-AF65-F5344CB8AC3E}">
        <p14:creationId xmlns:p14="http://schemas.microsoft.com/office/powerpoint/2010/main" val="1146489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9949D0-E7E7-A239-C6AC-3C58126BB3AE}"/>
              </a:ext>
            </a:extLst>
          </p:cNvPr>
          <p:cNvSpPr/>
          <p:nvPr/>
        </p:nvSpPr>
        <p:spPr>
          <a:xfrm>
            <a:off x="707923" y="739877"/>
            <a:ext cx="10645877" cy="53782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9CDD053-D03F-021E-8842-DE76934061EC}"/>
              </a:ext>
            </a:extLst>
          </p:cNvPr>
          <p:cNvSpPr>
            <a:spLocks noGrp="1"/>
          </p:cNvSpPr>
          <p:nvPr>
            <p:ph idx="1"/>
          </p:nvPr>
        </p:nvSpPr>
        <p:spPr>
          <a:xfrm>
            <a:off x="838200" y="924232"/>
            <a:ext cx="10515600" cy="5252731"/>
          </a:xfrm>
        </p:spPr>
        <p:txBody>
          <a:bodyPr>
            <a:normAutofit/>
          </a:bodyPr>
          <a:lstStyle/>
          <a:p>
            <a:pPr marL="0" indent="0">
              <a:buNone/>
            </a:pPr>
            <a:endParaRPr lang="en-US" dirty="0"/>
          </a:p>
          <a:p>
            <a:pPr marL="0" indent="0">
              <a:buNone/>
            </a:pPr>
            <a:r>
              <a:rPr lang="en-US" b="1" dirty="0"/>
              <a:t>What's Driving the Delays?</a:t>
            </a:r>
          </a:p>
          <a:p>
            <a:r>
              <a:rPr lang="en-US" sz="1700" dirty="0"/>
              <a:t>Late Aircraft Delay: 41.97M minutes (40.4%)</a:t>
            </a:r>
          </a:p>
          <a:p>
            <a:r>
              <a:rPr lang="en-US" sz="1700" dirty="0"/>
              <a:t>Carrier Delay: 35.82M minutes (34.5%)</a:t>
            </a:r>
          </a:p>
          <a:p>
            <a:r>
              <a:rPr lang="en-US" sz="1700" dirty="0"/>
              <a:t>NAS Delay: 19.62M minutes (18.9%)</a:t>
            </a:r>
          </a:p>
          <a:p>
            <a:r>
              <a:rPr lang="en-US" sz="1700" dirty="0"/>
              <a:t>Weather Delay: 6.2M minutes (5.97%)</a:t>
            </a:r>
          </a:p>
          <a:p>
            <a:r>
              <a:rPr lang="en-US" sz="1700" dirty="0"/>
              <a:t>Security Delay: 0.18M minutes (0.17%)</a:t>
            </a:r>
          </a:p>
          <a:p>
            <a:pPr marL="0" indent="0">
              <a:buNone/>
            </a:pPr>
            <a:endParaRPr lang="en-US" sz="2000" b="1" dirty="0"/>
          </a:p>
          <a:p>
            <a:pPr marL="0" indent="0">
              <a:buNone/>
            </a:pPr>
            <a:r>
              <a:rPr lang="en-US" sz="2000" b="1" u="sng" dirty="0"/>
              <a:t>Key Insight:</a:t>
            </a:r>
          </a:p>
          <a:p>
            <a:pPr marL="0" indent="0">
              <a:buNone/>
            </a:pPr>
            <a:r>
              <a:rPr lang="en-US" sz="1700" dirty="0"/>
              <a:t>Operational causes (Late Aircraft + Carrier) account for ~75% of all delay minutes — far outweighing weather and security combined.</a:t>
            </a:r>
          </a:p>
          <a:p>
            <a:pPr marL="0" indent="0">
              <a:buNone/>
            </a:pPr>
            <a:endParaRPr lang="en-US" sz="1700" dirty="0"/>
          </a:p>
        </p:txBody>
      </p:sp>
      <p:pic>
        <p:nvPicPr>
          <p:cNvPr id="5" name="Picture 4">
            <a:extLst>
              <a:ext uri="{FF2B5EF4-FFF2-40B4-BE49-F238E27FC236}">
                <a16:creationId xmlns:a16="http://schemas.microsoft.com/office/drawing/2014/main" id="{09BFBE53-3D7B-EB26-DC2C-3E7E1796B6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260" y="1206870"/>
            <a:ext cx="3496163" cy="2753109"/>
          </a:xfrm>
          <a:prstGeom prst="rect">
            <a:avLst/>
          </a:prstGeom>
        </p:spPr>
      </p:pic>
    </p:spTree>
    <p:extLst>
      <p:ext uri="{BB962C8B-B14F-4D97-AF65-F5344CB8AC3E}">
        <p14:creationId xmlns:p14="http://schemas.microsoft.com/office/powerpoint/2010/main" val="2668618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FFE82D-B631-86CE-7B2D-F6593FD312CC}"/>
              </a:ext>
            </a:extLst>
          </p:cNvPr>
          <p:cNvSpPr/>
          <p:nvPr/>
        </p:nvSpPr>
        <p:spPr>
          <a:xfrm>
            <a:off x="501445" y="521110"/>
            <a:ext cx="10864645" cy="57223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E763E42B-8E29-DCF4-9153-911C182CF469}"/>
              </a:ext>
            </a:extLst>
          </p:cNvPr>
          <p:cNvSpPr>
            <a:spLocks noGrp="1"/>
          </p:cNvSpPr>
          <p:nvPr>
            <p:ph idx="1"/>
          </p:nvPr>
        </p:nvSpPr>
        <p:spPr>
          <a:xfrm>
            <a:off x="631723" y="570270"/>
            <a:ext cx="10515600" cy="5557531"/>
          </a:xfrm>
        </p:spPr>
        <p:txBody>
          <a:bodyPr>
            <a:normAutofit/>
          </a:bodyPr>
          <a:lstStyle/>
          <a:p>
            <a:pPr marL="0" indent="0">
              <a:buNone/>
            </a:pPr>
            <a:r>
              <a:rPr lang="en-US" sz="3400" b="1" dirty="0"/>
              <a:t>Performance Patterns</a:t>
            </a:r>
          </a:p>
          <a:p>
            <a:pPr marL="0" indent="0">
              <a:buNone/>
            </a:pPr>
            <a:endParaRPr lang="en-US" sz="1600" dirty="0"/>
          </a:p>
          <a:p>
            <a:r>
              <a:rPr lang="en-US" sz="1600" dirty="0"/>
              <a:t>Best Performing Airline: YX (Republic Airways) — 84.82% on-time</a:t>
            </a:r>
          </a:p>
          <a:p>
            <a:r>
              <a:rPr lang="en-US" sz="1600" dirty="0"/>
              <a:t>Worst Performing Airline: F9 (Frontier) — 70.29% on-time</a:t>
            </a:r>
          </a:p>
          <a:p>
            <a:r>
              <a:rPr lang="en-US" sz="1600" dirty="0"/>
              <a:t>Worst Delay Day: Friday — 22.61% delay rate</a:t>
            </a:r>
          </a:p>
          <a:p>
            <a:r>
              <a:rPr lang="en-US" sz="1600" dirty="0"/>
              <a:t>Best Delay Day: Tuesday — 17.32% delay rate</a:t>
            </a:r>
          </a:p>
          <a:p>
            <a:r>
              <a:rPr lang="en-US" sz="1600" dirty="0"/>
              <a:t>Worst Delay Month: July — 28.87% delay rate</a:t>
            </a:r>
          </a:p>
          <a:p>
            <a:r>
              <a:rPr lang="en-US" sz="1600" dirty="0"/>
              <a:t>Calmest Months: September, October, November</a:t>
            </a:r>
          </a:p>
          <a:p>
            <a:pPr marL="0" indent="0">
              <a:buNone/>
            </a:pPr>
            <a:endParaRPr lang="en-US" sz="2200" b="1" dirty="0"/>
          </a:p>
          <a:p>
            <a:pPr marL="0" indent="0">
              <a:buNone/>
            </a:pPr>
            <a:r>
              <a:rPr lang="en-US" sz="2200" b="1" u="sng" dirty="0"/>
              <a:t>Key Insight:</a:t>
            </a:r>
          </a:p>
          <a:p>
            <a:r>
              <a:rPr lang="en-US" sz="1800" dirty="0"/>
              <a:t>High airport traffic does not correlate with high delay — DFW ranks #2 in flight volume but only #48 in average delay.</a:t>
            </a:r>
          </a:p>
          <a:p>
            <a:pPr marL="0" indent="0">
              <a:buNone/>
            </a:pPr>
            <a:endParaRPr lang="en-US" dirty="0"/>
          </a:p>
        </p:txBody>
      </p:sp>
      <p:pic>
        <p:nvPicPr>
          <p:cNvPr id="6" name="Picture 5">
            <a:extLst>
              <a:ext uri="{FF2B5EF4-FFF2-40B4-BE49-F238E27FC236}">
                <a16:creationId xmlns:a16="http://schemas.microsoft.com/office/drawing/2014/main" id="{1C428DCD-77A7-6259-A75B-991CA81362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4069" y="1191241"/>
            <a:ext cx="3048425" cy="2191056"/>
          </a:xfrm>
          <a:prstGeom prst="rect">
            <a:avLst/>
          </a:prstGeom>
        </p:spPr>
      </p:pic>
    </p:spTree>
    <p:extLst>
      <p:ext uri="{BB962C8B-B14F-4D97-AF65-F5344CB8AC3E}">
        <p14:creationId xmlns:p14="http://schemas.microsoft.com/office/powerpoint/2010/main" val="400737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9C4C8B-0660-A5DE-04E8-D8661992BA30}"/>
              </a:ext>
            </a:extLst>
          </p:cNvPr>
          <p:cNvSpPr/>
          <p:nvPr/>
        </p:nvSpPr>
        <p:spPr>
          <a:xfrm>
            <a:off x="816077" y="619432"/>
            <a:ext cx="10746658" cy="56043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42791D5E-68CA-F335-CB75-18FD2F3C6907}"/>
              </a:ext>
            </a:extLst>
          </p:cNvPr>
          <p:cNvSpPr>
            <a:spLocks noGrp="1"/>
          </p:cNvSpPr>
          <p:nvPr>
            <p:ph idx="1"/>
          </p:nvPr>
        </p:nvSpPr>
        <p:spPr>
          <a:xfrm>
            <a:off x="907026" y="723541"/>
            <a:ext cx="10515600" cy="5410917"/>
          </a:xfrm>
        </p:spPr>
        <p:txBody>
          <a:bodyPr>
            <a:normAutofit fontScale="55000" lnSpcReduction="20000"/>
          </a:bodyPr>
          <a:lstStyle/>
          <a:p>
            <a:pPr marL="0" indent="0">
              <a:buNone/>
            </a:pPr>
            <a:r>
              <a:rPr lang="en-US" sz="3200" b="1" u="sng" dirty="0"/>
              <a:t>Recommendations:</a:t>
            </a:r>
          </a:p>
          <a:p>
            <a:pPr marL="0" indent="0">
              <a:buNone/>
            </a:pPr>
            <a:endParaRPr lang="en-US" dirty="0"/>
          </a:p>
          <a:p>
            <a:pPr marL="514350" indent="-514350">
              <a:buFont typeface="+mj-lt"/>
              <a:buAutoNum type="arabicPeriod"/>
            </a:pPr>
            <a:r>
              <a:rPr lang="en-US" sz="3300" dirty="0"/>
              <a:t>Prioritize turnaround-time and crew-scheduling improvements over  weather mitigation investment. Late Aircraft + Carrier delays drive ~75% of delay minutes — far more than weather (5.97%) or security (0.17%).</a:t>
            </a:r>
          </a:p>
          <a:p>
            <a:pPr marL="514350" indent="-514350">
              <a:buFont typeface="+mj-lt"/>
              <a:buAutoNum type="arabicPeriod"/>
            </a:pPr>
            <a:endParaRPr lang="en-US" sz="3300" dirty="0"/>
          </a:p>
          <a:p>
            <a:pPr marL="514350" indent="-514350">
              <a:buFont typeface="+mj-lt"/>
              <a:buAutoNum type="arabicPeriod"/>
            </a:pPr>
            <a:r>
              <a:rPr lang="en-US" sz="3300" dirty="0"/>
              <a:t>Increase staffing and ground resources on Fridays and Sundays These two days consistently show the highest delay rates and average delay minutes across the year.</a:t>
            </a:r>
          </a:p>
          <a:p>
            <a:pPr marL="514350" indent="-514350">
              <a:buFont typeface="+mj-lt"/>
              <a:buAutoNum type="arabicPeriod"/>
            </a:pPr>
            <a:endParaRPr lang="en-US" sz="3300" dirty="0"/>
          </a:p>
          <a:p>
            <a:pPr marL="514350" indent="-514350">
              <a:buFont typeface="+mj-lt"/>
              <a:buAutoNum type="arabicPeriod"/>
            </a:pPr>
            <a:r>
              <a:rPr lang="en-US" sz="3300" dirty="0"/>
              <a:t>Conduct targeted root-cause reviews for chronically delayed regional routes and airports. Routes like RDM–DFW (86 min avg delay) and airports like HTS(42.79 min avg delay) show extreme, recurring delay patterns despite low flight volume — suggesting fixable local issues rather than random variance.</a:t>
            </a:r>
          </a:p>
          <a:p>
            <a:pPr marL="514350" indent="-514350">
              <a:buFont typeface="+mj-lt"/>
              <a:buAutoNum type="arabicPeriod"/>
            </a:pPr>
            <a:endParaRPr lang="en-US" sz="3300" dirty="0"/>
          </a:p>
          <a:p>
            <a:pPr marL="514350" indent="-514350">
              <a:buFont typeface="+mj-lt"/>
              <a:buAutoNum type="arabicPeriod"/>
            </a:pPr>
            <a:r>
              <a:rPr lang="en-US" sz="3300" dirty="0"/>
              <a:t>Initiate a cross-functional operational review for Frontier (F9). F9 ranks worst on both on-time performance (70.29%) and cancellation rate (2.32%) — a consistent pattern across two independent metrics signals a systemic reliability issue, not an isolated cause.</a:t>
            </a:r>
          </a:p>
          <a:p>
            <a:pPr marL="514350" indent="-514350">
              <a:buFont typeface="+mj-lt"/>
              <a:buAutoNum type="arabicPeriod"/>
            </a:pPr>
            <a:endParaRPr lang="en-US" sz="3300" dirty="0"/>
          </a:p>
          <a:p>
            <a:pPr marL="514350" indent="-514350">
              <a:buFont typeface="+mj-lt"/>
              <a:buAutoNum type="arabicPeriod"/>
            </a:pPr>
            <a:r>
              <a:rPr lang="en-US" sz="3300" dirty="0"/>
              <a:t>Maintain current infrastructure investment levels at major </a:t>
            </a:r>
            <a:r>
              <a:rPr lang="en-US" sz="3300" dirty="0" err="1"/>
              <a:t>hubs;redirect</a:t>
            </a:r>
            <a:r>
              <a:rPr lang="en-US" sz="3300" dirty="0"/>
              <a:t> incremental budget toward regional route reliability. Since high-traffic hubs (ATL, DFW, ORD) are not among the most delayed airports, current hub-level systems are performing adequately — regional/seasonal routes offer higher ROI for improvement spend.</a:t>
            </a:r>
            <a:endParaRPr lang="en-IN" sz="3300" dirty="0"/>
          </a:p>
        </p:txBody>
      </p:sp>
    </p:spTree>
    <p:extLst>
      <p:ext uri="{BB962C8B-B14F-4D97-AF65-F5344CB8AC3E}">
        <p14:creationId xmlns:p14="http://schemas.microsoft.com/office/powerpoint/2010/main" val="2670743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840A61-7EFC-CD89-4456-C99E76E8F110}"/>
              </a:ext>
            </a:extLst>
          </p:cNvPr>
          <p:cNvSpPr/>
          <p:nvPr/>
        </p:nvSpPr>
        <p:spPr>
          <a:xfrm>
            <a:off x="727587" y="501445"/>
            <a:ext cx="10982632" cy="57076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948A136-21CE-BD92-46EE-183827BAED52}"/>
              </a:ext>
            </a:extLst>
          </p:cNvPr>
          <p:cNvSpPr>
            <a:spLocks noGrp="1"/>
          </p:cNvSpPr>
          <p:nvPr>
            <p:ph idx="1"/>
          </p:nvPr>
        </p:nvSpPr>
        <p:spPr>
          <a:xfrm>
            <a:off x="838200" y="648929"/>
            <a:ext cx="10515600" cy="5528034"/>
          </a:xfrm>
        </p:spPr>
        <p:txBody>
          <a:bodyPr>
            <a:normAutofit/>
          </a:bodyPr>
          <a:lstStyle/>
          <a:p>
            <a:pPr marL="0" indent="0">
              <a:buNone/>
            </a:pPr>
            <a:r>
              <a:rPr lang="en-US" b="1" dirty="0"/>
              <a:t>Validation &amp; Process Improvements</a:t>
            </a:r>
          </a:p>
          <a:p>
            <a:pPr marL="0" indent="0">
              <a:buNone/>
            </a:pPr>
            <a:endParaRPr lang="en-US" sz="2100" dirty="0"/>
          </a:p>
          <a:p>
            <a:pPr marL="0" indent="0">
              <a:buNone/>
            </a:pPr>
            <a:r>
              <a:rPr lang="en-US" sz="2100" u="sng" dirty="0"/>
              <a:t>UAT Summary:</a:t>
            </a:r>
          </a:p>
          <a:p>
            <a:r>
              <a:rPr lang="en-US" sz="1800" dirty="0"/>
              <a:t>Findings were cross-validated between Python (Pandas) and SQL (MySQL) analysis layers — all key metrics (delay rate, cancellation rate, average delay) matched exactly across both methods, confirming data integrity and analysis accuracy. Results were also reviewed with a peer for clarity and business relevance before finalizing.</a:t>
            </a:r>
          </a:p>
          <a:p>
            <a:pPr marL="0" indent="0">
              <a:buNone/>
            </a:pPr>
            <a:endParaRPr lang="en-US" dirty="0"/>
          </a:p>
          <a:p>
            <a:pPr marL="0" indent="0">
              <a:buNone/>
            </a:pPr>
            <a:r>
              <a:rPr lang="en-US" sz="2400" u="sng" dirty="0"/>
              <a:t>Process Improvement Suggestions:</a:t>
            </a:r>
          </a:p>
          <a:p>
            <a:r>
              <a:rPr lang="en-US" sz="1800" dirty="0"/>
              <a:t>Automate monthly delay reporting via scheduled Power BI dataset refresh, replacing manual report generation.</a:t>
            </a:r>
          </a:p>
          <a:p>
            <a:r>
              <a:rPr lang="en-US" sz="1800" dirty="0"/>
              <a:t>Establish a standing delay-cause monitoring threshold (e.g., alert if monthly delay rate exceeds 25%) for proactive intervention.</a:t>
            </a:r>
            <a:endParaRPr lang="en-IN" sz="1800" dirty="0"/>
          </a:p>
        </p:txBody>
      </p:sp>
    </p:spTree>
    <p:extLst>
      <p:ext uri="{BB962C8B-B14F-4D97-AF65-F5344CB8AC3E}">
        <p14:creationId xmlns:p14="http://schemas.microsoft.com/office/powerpoint/2010/main" val="3912187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BDF57C-3AC6-5FD0-C2BA-305135263B97}"/>
              </a:ext>
            </a:extLst>
          </p:cNvPr>
          <p:cNvSpPr/>
          <p:nvPr/>
        </p:nvSpPr>
        <p:spPr>
          <a:xfrm>
            <a:off x="727587" y="570271"/>
            <a:ext cx="10776155" cy="580103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8BD5AC59-CDC4-015B-BB94-EDDC41BD2CF1}"/>
              </a:ext>
            </a:extLst>
          </p:cNvPr>
          <p:cNvSpPr>
            <a:spLocks noGrp="1"/>
          </p:cNvSpPr>
          <p:nvPr>
            <p:ph idx="1"/>
          </p:nvPr>
        </p:nvSpPr>
        <p:spPr>
          <a:xfrm>
            <a:off x="838200" y="668594"/>
            <a:ext cx="10515600" cy="5508369"/>
          </a:xfrm>
        </p:spPr>
        <p:txBody>
          <a:bodyPr>
            <a:normAutofit/>
          </a:bodyPr>
          <a:lstStyle/>
          <a:p>
            <a:pPr marL="0" indent="0">
              <a:buNone/>
            </a:pPr>
            <a:r>
              <a:rPr lang="en-US" b="1" u="sng" dirty="0"/>
              <a:t>Conclusion</a:t>
            </a:r>
          </a:p>
          <a:p>
            <a:pPr marL="0" indent="0">
              <a:buNone/>
            </a:pPr>
            <a:endParaRPr lang="en-US" dirty="0"/>
          </a:p>
          <a:p>
            <a:r>
              <a:rPr lang="en-US" sz="1900" dirty="0"/>
              <a:t>Flight delays in 2024 were predominantly operational and addressable — not primarily driven by uncontrollable factors like </a:t>
            </a:r>
            <a:r>
              <a:rPr lang="en-US" sz="1900" dirty="0" err="1"/>
              <a:t>weather.Targeted</a:t>
            </a:r>
            <a:r>
              <a:rPr lang="en-US" sz="1900" dirty="0"/>
              <a:t> scheduling, staffing, and route-level interventions offer meaningful potential to improve on-time performance.</a:t>
            </a:r>
          </a:p>
          <a:p>
            <a:pPr marL="0" indent="0">
              <a:buNone/>
            </a:pPr>
            <a:endParaRPr lang="en-US" dirty="0"/>
          </a:p>
          <a:p>
            <a:pPr marL="0" indent="0">
              <a:buNone/>
            </a:pPr>
            <a:r>
              <a:rPr lang="en-US" sz="2000" u="sng" dirty="0"/>
              <a:t>Next Steps:</a:t>
            </a:r>
          </a:p>
          <a:p>
            <a:r>
              <a:rPr lang="en-US" sz="1800" dirty="0"/>
              <a:t>Build a predictive delay-risk model using historical patterns</a:t>
            </a:r>
          </a:p>
          <a:p>
            <a:r>
              <a:rPr lang="en-US" sz="1800" dirty="0"/>
              <a:t>Extend dashboard with real-time data refresh capability</a:t>
            </a:r>
          </a:p>
          <a:p>
            <a:r>
              <a:rPr lang="en-US" sz="1800" dirty="0"/>
              <a:t>Expand analysis to multi-year trends for seasonality validation</a:t>
            </a:r>
          </a:p>
          <a:p>
            <a:pPr marL="0" indent="0">
              <a:buNone/>
            </a:pPr>
            <a:endParaRPr lang="en-US" dirty="0"/>
          </a:p>
          <a:p>
            <a:pPr marL="0" indent="0" algn="ctr">
              <a:buNone/>
            </a:pPr>
            <a:r>
              <a:rPr lang="en-US" b="1" dirty="0"/>
              <a:t>Thank You</a:t>
            </a:r>
            <a:endParaRPr lang="en-IN" b="1" dirty="0"/>
          </a:p>
        </p:txBody>
      </p:sp>
    </p:spTree>
    <p:extLst>
      <p:ext uri="{BB962C8B-B14F-4D97-AF65-F5344CB8AC3E}">
        <p14:creationId xmlns:p14="http://schemas.microsoft.com/office/powerpoint/2010/main" val="1301824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684</Words>
  <Application>Microsoft Office PowerPoint</Application>
  <PresentationFormat>Widescreen</PresentationFormat>
  <Paragraphs>77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sahithi naidu</dc:creator>
  <cp:lastModifiedBy>sahithi naidu</cp:lastModifiedBy>
  <cp:revision>1</cp:revision>
  <dcterms:created xsi:type="dcterms:W3CDTF">2026-06-27T12:38:59Z</dcterms:created>
  <dcterms:modified xsi:type="dcterms:W3CDTF">2026-06-27T13:35:51Z</dcterms:modified>
</cp:coreProperties>
</file>